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0" r:id="rId9"/>
    <p:sldId id="273" r:id="rId10"/>
    <p:sldId id="264" r:id="rId11"/>
    <p:sldId id="275" r:id="rId12"/>
    <p:sldId id="266" r:id="rId13"/>
    <p:sldId id="265" r:id="rId14"/>
    <p:sldId id="267" r:id="rId15"/>
    <p:sldId id="268" r:id="rId16"/>
    <p:sldId id="269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9BD44-48BD-469B-A4C3-9A666AA616B8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2E0E4-27D1-478E-8DAD-398A742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2E440-0BD4-43F5-AD68-41FBB75AD08E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2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2C05D-1F2A-47BA-BD18-A84FD52DB489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1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22D1-4E76-4425-A590-401F2D3AF6AE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7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C603-6CD0-44B3-BEA5-2C847B4787A7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4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ADCD-FAA1-4DCC-842D-B3CAE17B243B}" type="datetime1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5AF9-FAAD-4509-8CA2-03E32C36837E}" type="datetime1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8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2D9-5159-4B65-8E5A-CC238CEB98B5}" type="datetime1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4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E39-317B-45A4-B1FB-64AEF883AF26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2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2272-A4AB-491C-B927-5EE8D214BDB2}" type="datetime1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6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CFA8-C7BB-4A5B-A164-C127282F0AAC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2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F1972-7A74-4679-A269-6529DF38E256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6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C2B19-714B-42F1-8565-B087B2C819AE}" type="datetime1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3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t.com/" TargetMode="External"/><Relationship Id="rId4" Type="http://schemas.openxmlformats.org/officeDocument/2006/relationships/hyperlink" Target="https://create.arduino.cc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9553" y="1743427"/>
            <a:ext cx="7772400" cy="108667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Following Car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5465" y="2905559"/>
            <a:ext cx="4343400" cy="1500487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Bilal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Naeem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(F23CSC008)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Sadia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Tehreem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(F23CSC043)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Saba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Ramzan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(F23CSC025)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143000" y="4432634"/>
            <a:ext cx="6858000" cy="1341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Saadia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Karim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Seema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Hashwani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143000" y="5584042"/>
            <a:ext cx="6858000" cy="1058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Organizer and Assembly Language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and Technology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5CF088-DA01-4527-A37F-55B4C4B76F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92"/>
          <a:stretch/>
        </p:blipFill>
        <p:spPr>
          <a:xfrm>
            <a:off x="969553" y="28654"/>
            <a:ext cx="6822141" cy="875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FD5269-AE24-4C09-B752-93D41B916B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3845861" y="1035320"/>
            <a:ext cx="2411068" cy="815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FEC063-2CB2-44A7-84E6-8BC7723487D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2571956" y="860606"/>
            <a:ext cx="1273905" cy="116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7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8916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7009"/>
            <a:ext cx="7886700" cy="4599954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/Background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Review/Research Gap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Methodology/Framework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Languages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of role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BEC8D3-B727-433D-9B6F-B68CD2F8BC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49825C-7FED-4240-B482-421C6F35C8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2C8503-16C0-4053-85ED-D3B8A996A74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9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933" y="694445"/>
            <a:ext cx="7886700" cy="1325563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Introduction/Background: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F085FB-991F-4B2B-A037-1979D9AD5B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A87C1D-0E91-4871-8E03-FC829E4FA3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5048B4-824C-414D-8432-33E3BF6087F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3587" y="2217231"/>
            <a:ext cx="807682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Autonomous vehicles are becoming increasingly vital in today's automated world.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project involves developing a Line Following Car that tracks and follows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1800" dirty="0" smtClean="0"/>
              <a:t>a</a:t>
            </a:r>
            <a:r>
              <a:rPr lang="en-US" altLang="en-US" sz="1800" dirty="0"/>
              <a:t> </a:t>
            </a:r>
            <a:r>
              <a:rPr lang="en-US" altLang="en-US" sz="1800" dirty="0" smtClean="0"/>
              <a:t> 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predefined path using IR sensors and an STM32 microcontroller.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focuses on sensor integration and motor control, providing foundational knowledge in real-world autonomous navigation.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project aims to contribute to understanding automation and robotics by addressing challenges in hardware-software integration and real-time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28351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10" y="828616"/>
            <a:ext cx="7886700" cy="1325563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D07A09-695C-4D06-82AE-F7E3DB1DE5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E14B93-8728-43E6-89D3-1F703B882D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249B21-9E72-4655-93A0-3A0B0166B59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10154" y="2154179"/>
            <a:ext cx="71236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explore the foundational principles of autonomous navigation and sensor-based systems.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contribute to the growing field of automation by addressing challenges in designing efficient and reliable navigation systems.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gain practical experience in hardware-software integration, enhancing problem-solving skills in robotics and automation.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develop low-level programming skills and understand real-world applications of microcontroller-based projects.</a:t>
            </a:r>
          </a:p>
        </p:txBody>
      </p:sp>
    </p:spTree>
    <p:extLst>
      <p:ext uri="{BB962C8B-B14F-4D97-AF65-F5344CB8AC3E}">
        <p14:creationId xmlns:p14="http://schemas.microsoft.com/office/powerpoint/2010/main" val="415796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439" y="852635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91606"/>
            <a:ext cx="7886700" cy="4351338"/>
          </a:xfrm>
        </p:spPr>
        <p:txBody>
          <a:bodyPr/>
          <a:lstStyle/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Traditional </a:t>
            </a:r>
            <a:r>
              <a:rPr lang="en-US" sz="1800" dirty="0"/>
              <a:t>vehicles rely on human intervention, which can lead to errors and inefficiencies. There is a need for automated navigation systems to enhance safety, reliability, and efficiency in transportation.</a:t>
            </a: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sz="1800" dirty="0"/>
              <a:t>Develop a Line Following Car using IR sensors and an STM32 microcontroller to autonomously follow a predefined path, demonstrating the principles of sensor integration and motor control for foundational autonomous navigation.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B7FA1-6347-4E5E-B60E-71651EE14A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A16DBF-5E9B-4FC8-9FAD-920299775C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8FC354-0C31-4902-B6B1-8571BB31147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73" y="923084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Scope of 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078EC-AEE2-4A91-8E94-676E17A68B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751213-FDAD-4C17-B366-AB7531D4A2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34BE75-3DEA-4C72-A01B-D8385C53EB7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8650" y="2398009"/>
            <a:ext cx="7717492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Differentiation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	Introduces a practical application of autonomous navigation by integrating sensor-based path detection and motor control, emphasizing hands-on learning with real-world relevance.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Efficiency:	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	Utilizes IR sensors and an STM32 microcontroller for precise, real-time line following, ensuring a reliable and optimized performance in automation tasks. This project bridges the gap in understanding foundational autonomous systems, offering insights into self-driving car technology while fostering skill development in hardware-software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6520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817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379" y="1467037"/>
            <a:ext cx="8193975" cy="4889314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IDEA:</a:t>
            </a:r>
            <a:r>
              <a:rPr lang="en-US" sz="1800" dirty="0" smtClean="0"/>
              <a:t> 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600" dirty="0"/>
              <a:t>Design and implement a Line Following Car to demonstrate the principles of autonomous navigation, emphasizing sensor-based control and real-time path detection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 smtClean="0"/>
              <a:t>DELIVERABLES</a:t>
            </a:r>
            <a:r>
              <a:rPr lang="en-US" sz="1800" dirty="0" smtClean="0"/>
              <a:t>:</a:t>
            </a:r>
          </a:p>
          <a:p>
            <a:pPr marL="0" indent="0" algn="just">
              <a:buNone/>
            </a:pPr>
            <a:r>
              <a:rPr lang="en-US" altLang="en-US" sz="1600" dirty="0" smtClean="0"/>
              <a:t>         	 A </a:t>
            </a:r>
            <a:r>
              <a:rPr lang="en-US" altLang="en-US" sz="1600" dirty="0"/>
              <a:t>fully operational car capable of autonomously following a black line on a </a:t>
            </a:r>
            <a:r>
              <a:rPr lang="en-US" altLang="en-US" sz="1600" dirty="0" smtClean="0"/>
              <a:t>white  	surface.</a:t>
            </a:r>
          </a:p>
          <a:p>
            <a:pPr marL="0" lvl="0" indent="0" algn="just">
              <a:buNone/>
            </a:pPr>
            <a:r>
              <a:rPr lang="en-US" altLang="en-US" sz="1600" dirty="0"/>
              <a:t>	Integration of IR sensors with an STM32 microcontroller for precise path </a:t>
            </a:r>
            <a:r>
              <a:rPr lang="en-US" altLang="en-US" sz="1600" dirty="0" smtClean="0"/>
              <a:t>tracking.</a:t>
            </a:r>
          </a:p>
          <a:p>
            <a:pPr marL="0" indent="0" algn="just">
              <a:buNone/>
            </a:pPr>
            <a:r>
              <a:rPr lang="en-US" sz="1600" b="1" dirty="0"/>
              <a:t>	</a:t>
            </a:r>
            <a:r>
              <a:rPr lang="en-US" sz="1600" dirty="0"/>
              <a:t>Motor control algorithms developed using Assembly language for accurate </a:t>
            </a:r>
            <a:r>
              <a:rPr lang="en-US" sz="1600" dirty="0" smtClean="0"/>
              <a:t>	movement.</a:t>
            </a:r>
            <a:endParaRPr lang="en-US" sz="1700" b="1" dirty="0" smtClean="0"/>
          </a:p>
          <a:p>
            <a:pPr>
              <a:lnSpc>
                <a:spcPct val="160000"/>
              </a:lnSpc>
            </a:pPr>
            <a:r>
              <a:rPr lang="en-US" sz="1800" b="1" dirty="0" smtClean="0"/>
              <a:t>KEY FEATURES</a:t>
            </a:r>
            <a:r>
              <a:rPr lang="en-US" sz="1800" dirty="0" smtClean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>	</a:t>
            </a:r>
            <a:r>
              <a:rPr lang="en-US" altLang="en-US" sz="1700" dirty="0"/>
              <a:t>Reliable line detection using IR sensors.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smtClean="0"/>
              <a:t>	Smooth </a:t>
            </a:r>
            <a:r>
              <a:rPr lang="en-US" altLang="en-US" sz="1700" dirty="0"/>
              <a:t>and efficient path-following behavior.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smtClean="0"/>
              <a:t>	Modular </a:t>
            </a:r>
            <a:r>
              <a:rPr lang="en-US" altLang="en-US" sz="1700" dirty="0"/>
              <a:t>design enabling easy debugging and enhancements.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smtClean="0"/>
              <a:t>	Real-time </a:t>
            </a:r>
            <a:r>
              <a:rPr lang="en-US" altLang="en-US" sz="1700" dirty="0"/>
              <a:t>sensor data processing for accurate navigation.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DE3DE-205C-4DE4-8C29-0045D57DE9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3D7AD6-FFC5-47F0-A8EF-44207EC739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40F34C-8304-4B04-ABC8-BD793CC9B1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8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278" y="61191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Review: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B44DE-CD0D-4523-887F-F63BE920F3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B1840B-8BB0-4684-992A-E948815FEFF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FB8173-E3A2-437A-B86C-BB9E61DD1D9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082848"/>
              </p:ext>
            </p:extLst>
          </p:nvPr>
        </p:nvGraphicFramePr>
        <p:xfrm>
          <a:off x="563335" y="2009336"/>
          <a:ext cx="8017329" cy="336948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72443">
                  <a:extLst>
                    <a:ext uri="{9D8B030D-6E8A-4147-A177-3AD203B41FA5}">
                      <a16:colId xmlns:a16="http://schemas.microsoft.com/office/drawing/2014/main" val="991553878"/>
                    </a:ext>
                  </a:extLst>
                </a:gridCol>
                <a:gridCol w="2672443">
                  <a:extLst>
                    <a:ext uri="{9D8B030D-6E8A-4147-A177-3AD203B41FA5}">
                      <a16:colId xmlns:a16="http://schemas.microsoft.com/office/drawing/2014/main" val="1382549289"/>
                    </a:ext>
                  </a:extLst>
                </a:gridCol>
                <a:gridCol w="2672443">
                  <a:extLst>
                    <a:ext uri="{9D8B030D-6E8A-4147-A177-3AD203B41FA5}">
                      <a16:colId xmlns:a16="http://schemas.microsoft.com/office/drawing/2014/main" val="2364672805"/>
                    </a:ext>
                  </a:extLst>
                </a:gridCol>
              </a:tblGrid>
              <a:tr h="4921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What It Did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How It Helps 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552775"/>
                  </a:ext>
                </a:extLst>
              </a:tr>
              <a:tr h="7193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Research on Line Following Robots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Used IR sensors to make robots follow a line.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Shows how IR sensors can track paths.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31145"/>
                  </a:ext>
                </a:extLst>
              </a:tr>
              <a:tr h="71932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Advances in Autonomous Vehicles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Studied how sensors guide self-driving cars.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Gives ideas for building sensor-based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026097"/>
                  </a:ext>
                </a:extLst>
              </a:tr>
              <a:tr h="71932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STM32 Microcontroller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Showed how STM32 runs control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Proves STM32 is good for controlling motors.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102389"/>
                  </a:ext>
                </a:extLst>
              </a:tr>
              <a:tr h="719329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Motor Control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Explained how to move robots accurately.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Helps in writing better motor control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9550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0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611086"/>
            <a:ext cx="8596202" cy="4745265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Development Tools</a:t>
            </a:r>
            <a:r>
              <a:rPr lang="en-US" sz="1800" dirty="0"/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b="1" dirty="0" smtClean="0"/>
              <a:t>	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/>
              <a:t>	</a:t>
            </a:r>
            <a:r>
              <a:rPr lang="en-US" altLang="en-US" sz="1600" b="1" dirty="0" smtClean="0"/>
              <a:t>Programming </a:t>
            </a:r>
            <a:r>
              <a:rPr lang="en-US" altLang="en-US" sz="1600" b="1" dirty="0"/>
              <a:t>Language:</a:t>
            </a:r>
            <a:r>
              <a:rPr lang="en-US" altLang="en-US" sz="1600" dirty="0"/>
              <a:t> Assembly language for motor control and path-following logic.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	Microcontroller</a:t>
            </a:r>
            <a:r>
              <a:rPr lang="en-US" altLang="en-US" sz="1600" b="1" dirty="0"/>
              <a:t>:</a:t>
            </a:r>
            <a:r>
              <a:rPr lang="en-US" altLang="en-US" sz="1600" dirty="0"/>
              <a:t> STM32 for sensor integration and motor control.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	Sensors</a:t>
            </a:r>
            <a:r>
              <a:rPr lang="en-US" altLang="en-US" sz="1600" b="1" dirty="0"/>
              <a:t>:</a:t>
            </a:r>
            <a:r>
              <a:rPr lang="en-US" altLang="en-US" sz="1600" dirty="0"/>
              <a:t> IR sensors for path detection and tracking.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	Hardware</a:t>
            </a:r>
            <a:r>
              <a:rPr lang="en-US" altLang="en-US" sz="1600" b="1" dirty="0"/>
              <a:t>:</a:t>
            </a:r>
            <a:r>
              <a:rPr lang="en-US" altLang="en-US" sz="1600" dirty="0"/>
              <a:t> Motors, chassis, and power supply for the physical Line Following Car.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	IDE</a:t>
            </a:r>
            <a:r>
              <a:rPr lang="en-US" altLang="en-US" sz="1600" b="1" dirty="0"/>
              <a:t>:</a:t>
            </a:r>
            <a:r>
              <a:rPr lang="en-US" altLang="en-US" sz="1600" dirty="0"/>
              <a:t> </a:t>
            </a:r>
            <a:r>
              <a:rPr lang="en-US" altLang="en-US" sz="1600" dirty="0" smtClean="0"/>
              <a:t>STM32CUBEIDE for </a:t>
            </a:r>
            <a:r>
              <a:rPr lang="en-US" altLang="en-US" sz="1600" dirty="0"/>
              <a:t>coding and debugging Assembly </a:t>
            </a:r>
            <a:r>
              <a:rPr lang="en-US" altLang="en-US" sz="1600" dirty="0" smtClean="0"/>
              <a:t>language </a:t>
            </a:r>
            <a:r>
              <a:rPr lang="en-US" altLang="en-US" sz="1600" dirty="0"/>
              <a:t>programs.</a:t>
            </a:r>
          </a:p>
          <a:p>
            <a:pPr marL="0" indent="0">
              <a:buNone/>
            </a:pPr>
            <a:endParaRPr lang="en-US" sz="1600" dirty="0" smtClean="0"/>
          </a:p>
          <a:p>
            <a:r>
              <a:rPr lang="en-US" sz="1800" b="1" dirty="0"/>
              <a:t>Development Approach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  </a:t>
            </a:r>
            <a:endParaRPr lang="en-US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        Incremental </a:t>
            </a:r>
            <a:r>
              <a:rPr lang="en-US" altLang="en-US" sz="1600" b="1" dirty="0"/>
              <a:t>Model:</a:t>
            </a:r>
            <a:r>
              <a:rPr lang="en-US" altLang="en-US" sz="1600" dirty="0"/>
              <a:t> The project will follow an iterative approach, starting with basic path </a:t>
            </a:r>
            <a:r>
              <a:rPr lang="en-US" altLang="en-US" sz="1600" dirty="0" smtClean="0"/>
              <a:t>  	detection </a:t>
            </a:r>
            <a:r>
              <a:rPr lang="en-US" altLang="en-US" sz="1600" dirty="0"/>
              <a:t>and gradually adding motor control and navigation refinements.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        Hardware-Software </a:t>
            </a:r>
            <a:r>
              <a:rPr lang="en-US" altLang="en-US" sz="1600" b="1" dirty="0"/>
              <a:t>Integration:</a:t>
            </a:r>
            <a:r>
              <a:rPr lang="en-US" altLang="en-US" sz="1600" dirty="0"/>
              <a:t> Seamless coordination between sensors, the microcontroller, </a:t>
            </a:r>
            <a:r>
              <a:rPr lang="en-US" altLang="en-US" sz="1600" dirty="0" smtClean="0"/>
              <a:t>               	and </a:t>
            </a:r>
            <a:r>
              <a:rPr lang="en-US" altLang="en-US" sz="1600" dirty="0"/>
              <a:t>motors will be achieved through a modular design.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        Algorithm </a:t>
            </a:r>
            <a:r>
              <a:rPr lang="en-US" altLang="en-US" sz="1600" b="1" dirty="0"/>
              <a:t>Development:</a:t>
            </a:r>
            <a:r>
              <a:rPr lang="en-US" altLang="en-US" sz="1600" dirty="0"/>
              <a:t> Precise motor control and path-tracking algorithms will be designed </a:t>
            </a:r>
            <a:r>
              <a:rPr lang="en-US" altLang="en-US" sz="1600" dirty="0" smtClean="0"/>
              <a:t>	and </a:t>
            </a:r>
            <a:r>
              <a:rPr lang="en-US" altLang="en-US" sz="1600" dirty="0"/>
              <a:t>tested in real-world scenarios.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 smtClean="0"/>
              <a:t>       Testing </a:t>
            </a:r>
            <a:r>
              <a:rPr lang="en-US" altLang="en-US" sz="1600" b="1" dirty="0"/>
              <a:t>and Optimization:</a:t>
            </a:r>
            <a:r>
              <a:rPr lang="en-US" altLang="en-US" sz="1600" dirty="0"/>
              <a:t> Continuous testing of sensor responsiveness and motor efficiency will </a:t>
            </a:r>
            <a:r>
              <a:rPr lang="en-US" altLang="en-US" sz="1600" dirty="0" smtClean="0"/>
              <a:t>	be </a:t>
            </a:r>
            <a:r>
              <a:rPr lang="en-US" altLang="en-US" sz="1600" dirty="0"/>
              <a:t>conducted to ensure reliability and performance.</a:t>
            </a:r>
          </a:p>
          <a:p>
            <a:pPr marL="0" indent="0">
              <a:buNone/>
            </a:pPr>
            <a:endParaRPr lang="en-US" sz="1600" dirty="0"/>
          </a:p>
          <a:p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2100" y="58317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Methodology/Framework: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E68D8D-E922-485B-A30F-88C753ACA8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086B74-29F3-480C-B61F-787955C3C7D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77EACA-DF5A-4721-B60B-612FCF3BCC0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6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Methodology/Framework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105499" y="1305641"/>
            <a:ext cx="757242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Framework is a diagram that describes in outline the logic flow goes to a study</a:t>
            </a:r>
            <a:endParaRPr kumimoji="0" lang="en-GB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B13FAF-9704-4C02-8DB0-1290EF3E9F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57DF68-BD4A-477A-B80D-79D62578DA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2EECBD-66A4-48D6-A3C8-F4AA57BDB57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pic>
        <p:nvPicPr>
          <p:cNvPr id="33" name="Picture 32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05"/>
          <a:stretch/>
        </p:blipFill>
        <p:spPr>
          <a:xfrm>
            <a:off x="2384613" y="1642370"/>
            <a:ext cx="4687993" cy="476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73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ircuit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iagram: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Final Presentation, Data Structure &amp; Algorithm, DCS, FoIT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17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614" y="52713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and Languages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3C8DB-F738-4703-A879-29E28B610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DEA8C1-B985-4586-95FE-D6906B163B0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68DDF1-018A-47B6-A57B-4424F4F5AA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6844" y="2400629"/>
            <a:ext cx="762870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 smtClean="0"/>
              <a:t>Programming </a:t>
            </a:r>
            <a:r>
              <a:rPr lang="en-US" sz="1800" b="1" dirty="0"/>
              <a:t>Language:</a:t>
            </a:r>
            <a:r>
              <a:rPr lang="en-US" sz="1800" dirty="0"/>
              <a:t> Assembly (Motor control </a:t>
            </a:r>
            <a:r>
              <a:rPr lang="en-US" sz="1800" dirty="0" smtClean="0"/>
              <a:t>algorithms)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/>
              <a:t>Microcontroller:</a:t>
            </a:r>
            <a:r>
              <a:rPr lang="en-US" sz="1800" dirty="0" smtClean="0"/>
              <a:t> STM32 (Hardware control and sensor integration)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/>
              <a:t>Sensors:</a:t>
            </a:r>
            <a:r>
              <a:rPr lang="en-US" sz="1800" dirty="0" smtClean="0"/>
              <a:t> IR Sensors (Path detection)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/>
              <a:t>Development Environment:</a:t>
            </a:r>
            <a:r>
              <a:rPr lang="en-US" sz="1800" dirty="0" smtClean="0"/>
              <a:t> STM32CubeIDE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/>
              <a:t>Hardware Tools:</a:t>
            </a:r>
            <a:r>
              <a:rPr lang="en-US" sz="1800" dirty="0" smtClean="0"/>
              <a:t> IR Sensors, Motor Driver, Chassis, STM32 Board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b="1" dirty="0" smtClean="0"/>
              <a:t>Version Control:</a:t>
            </a:r>
            <a:r>
              <a:rPr lang="en-US" sz="1800" dirty="0" smtClean="0"/>
              <a:t> </a:t>
            </a:r>
            <a:r>
              <a:rPr lang="en-US" sz="1800" dirty="0" err="1" smtClean="0"/>
              <a:t>Git</a:t>
            </a:r>
            <a:r>
              <a:rPr lang="en-US" sz="1800" dirty="0" smtClean="0"/>
              <a:t>/GitHub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2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684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BD520C-C22C-4F6C-A837-970365F9EF8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05F7D2-DE9D-4B00-B2AC-DCB1423E5A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CE9F3-9541-4379-9561-20FCB0C791F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14" y="1546860"/>
            <a:ext cx="7802336" cy="439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16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3739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84553"/>
            <a:ext cx="78867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The Line Following Car project provided hands-on experience in integrating hardware with low-level programming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We successfully implemented a system that can autonomously follow a black line using IR sensors and the STM32 microcontroller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The project deepened our understanding of real-time sensor data processing and precise motor control using Assembly language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This foundational work prepares us for more advanced research in robotics and autonomous vehicle technologies.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01AFD2-ACAA-4A93-8DF0-999DAFDFC3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F7EBEE-3FB6-4C2A-8B68-0E439DC9F6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56C9D3-1457-4CBA-9941-66B9D042D99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47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730" y="765795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6E289B-7AC3-421C-9253-870ACFB6C5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024" y="136524"/>
            <a:ext cx="2285561" cy="6292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5833E5-6179-4D80-AE65-8D37B8EE17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89869"/>
            <a:ext cx="3872754" cy="491168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7059" y="1804729"/>
            <a:ext cx="8869882" cy="446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Books and Manuals:</a:t>
            </a:r>
            <a:endParaRPr lang="en-US" sz="1600" dirty="0"/>
          </a:p>
          <a:p>
            <a:pPr marL="0" lvl="0" indent="0">
              <a:buNone/>
            </a:pPr>
            <a:r>
              <a:rPr lang="en-US" sz="1600" dirty="0" smtClean="0"/>
              <a:t>	B</a:t>
            </a:r>
            <a:r>
              <a:rPr lang="en-US" sz="1600" dirty="0"/>
              <a:t>. Kumar and R. Joshi, </a:t>
            </a:r>
            <a:r>
              <a:rPr lang="en-US" sz="1600" i="1" dirty="0"/>
              <a:t>Introduction to Robotics and Automation</a:t>
            </a:r>
            <a:r>
              <a:rPr lang="en-US" sz="1600" dirty="0"/>
              <a:t>. Springer, 2021.</a:t>
            </a:r>
          </a:p>
          <a:p>
            <a:pPr marL="0" lvl="0" indent="0">
              <a:buNone/>
            </a:pPr>
            <a:r>
              <a:rPr lang="en-US" sz="1600" dirty="0" smtClean="0"/>
              <a:t>	S</a:t>
            </a:r>
            <a:r>
              <a:rPr lang="en-US" sz="1600" dirty="0"/>
              <a:t>. F. Barrett and D. J. Pack, </a:t>
            </a:r>
            <a:r>
              <a:rPr lang="en-US" sz="1600" i="1" dirty="0"/>
              <a:t>Embedded Systems: Design and Applications with the STM32 </a:t>
            </a:r>
            <a:r>
              <a:rPr lang="en-US" sz="1600" i="1" dirty="0" smtClean="0"/>
              <a:t>	Microcontroller</a:t>
            </a:r>
            <a:r>
              <a:rPr lang="en-US" sz="1600" dirty="0"/>
              <a:t>. CRC Press, 2016.</a:t>
            </a:r>
          </a:p>
          <a:p>
            <a:r>
              <a:rPr lang="en-US" sz="1600" dirty="0"/>
              <a:t>· </a:t>
            </a:r>
            <a:r>
              <a:rPr lang="en-US" sz="1600" b="1" dirty="0"/>
              <a:t>Research Articles:</a:t>
            </a:r>
            <a:endParaRPr lang="en-US" sz="1600" dirty="0"/>
          </a:p>
          <a:p>
            <a:pPr marL="0" lvl="0" indent="0">
              <a:buNone/>
            </a:pPr>
            <a:r>
              <a:rPr lang="en-US" sz="1600" dirty="0" smtClean="0"/>
              <a:t>	R</a:t>
            </a:r>
            <a:r>
              <a:rPr lang="en-US" sz="1600" dirty="0"/>
              <a:t>. Gupta and S. Patel, "Autonomous Line Following Robots: Challenges and Applications," </a:t>
            </a:r>
            <a:r>
              <a:rPr lang="en-US" sz="1600" dirty="0" smtClean="0"/>
              <a:t>	</a:t>
            </a:r>
            <a:r>
              <a:rPr lang="en-US" sz="1600" i="1" dirty="0" smtClean="0"/>
              <a:t>International </a:t>
            </a:r>
            <a:r>
              <a:rPr lang="en-US" sz="1600" i="1" dirty="0"/>
              <a:t>Journal of Robotics Research</a:t>
            </a:r>
            <a:r>
              <a:rPr lang="en-US" sz="1600" dirty="0"/>
              <a:t>, vol. 15, no. 2, pp. 145-159, 2020.</a:t>
            </a:r>
          </a:p>
          <a:p>
            <a:pPr marL="0" lvl="0" indent="0">
              <a:buNone/>
            </a:pPr>
            <a:r>
              <a:rPr lang="en-US" sz="1600" dirty="0" smtClean="0"/>
              <a:t>	C</a:t>
            </a:r>
            <a:r>
              <a:rPr lang="en-US" sz="1600" dirty="0"/>
              <a:t>. Y. Lee and K. T. Wong, "IR Sensor Calibration Techniques for Line Following Robots," </a:t>
            </a:r>
            <a:r>
              <a:rPr lang="en-US" sz="1600" i="1" dirty="0"/>
              <a:t>IEEE </a:t>
            </a:r>
            <a:r>
              <a:rPr lang="en-US" sz="1600" i="1" dirty="0" smtClean="0"/>
              <a:t>	Sensors </a:t>
            </a:r>
            <a:r>
              <a:rPr lang="en-US" sz="1600" i="1" dirty="0"/>
              <a:t>Journal</a:t>
            </a:r>
            <a:r>
              <a:rPr lang="en-US" sz="1600" dirty="0"/>
              <a:t>, vol. 18, no. 8, pp. 2307-2314, 2019.</a:t>
            </a:r>
          </a:p>
          <a:p>
            <a:r>
              <a:rPr lang="en-US" sz="1600" dirty="0"/>
              <a:t>  </a:t>
            </a:r>
            <a:r>
              <a:rPr lang="en-US" sz="1600" b="1" dirty="0"/>
              <a:t>Online Resources:</a:t>
            </a:r>
            <a:endParaRPr lang="en-US" sz="1600" dirty="0"/>
          </a:p>
          <a:p>
            <a:pPr marL="0" lvl="0" indent="0">
              <a:buNone/>
            </a:pPr>
            <a:r>
              <a:rPr lang="en-US" sz="1600" dirty="0" smtClean="0"/>
              <a:t>	Arduino </a:t>
            </a:r>
            <a:r>
              <a:rPr lang="en-US" sz="1600" dirty="0"/>
              <a:t>Project Hub, "Building a Line Following Robot Using IR Sensors," 2022. [Online]. </a:t>
            </a:r>
            <a:r>
              <a:rPr lang="en-US" sz="1600" dirty="0" smtClean="0"/>
              <a:t>	Available</a:t>
            </a:r>
            <a:r>
              <a:rPr lang="en-US" sz="1600" dirty="0"/>
              <a:t>: </a:t>
            </a:r>
            <a:r>
              <a:rPr lang="en-US" sz="1600" u="sng" dirty="0">
                <a:hlinkClick r:id="rId4"/>
              </a:rPr>
              <a:t>https://create.arduino.cc</a:t>
            </a:r>
            <a:r>
              <a:rPr lang="en-US" sz="1600" dirty="0"/>
              <a:t>.</a:t>
            </a:r>
          </a:p>
          <a:p>
            <a:pPr marL="0" lvl="0" indent="0">
              <a:buNone/>
            </a:pPr>
            <a:r>
              <a:rPr lang="en-US" sz="1600" dirty="0"/>
              <a:t>	</a:t>
            </a:r>
            <a:r>
              <a:rPr lang="en-US" sz="1600" dirty="0" smtClean="0"/>
              <a:t>STM32 </a:t>
            </a:r>
            <a:r>
              <a:rPr lang="en-US" sz="1600" dirty="0"/>
              <a:t>Documentation, "Programming and Development with STM32 Microcontrollers," </a:t>
            </a:r>
            <a:r>
              <a:rPr lang="en-US" sz="1600" dirty="0" smtClean="0"/>
              <a:t>	2023</a:t>
            </a:r>
            <a:r>
              <a:rPr lang="en-US" sz="1600" dirty="0"/>
              <a:t>. [Online]. Available: </a:t>
            </a:r>
            <a:r>
              <a:rPr lang="en-US" sz="1600" u="sng" dirty="0">
                <a:hlinkClick r:id="rId5"/>
              </a:rPr>
              <a:t>https://www.st.com</a:t>
            </a:r>
            <a:r>
              <a:rPr lang="en-US" sz="16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87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70" y="2313196"/>
            <a:ext cx="503002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Q/A Session</a:t>
            </a:r>
            <a:endParaRPr lang="en-US" sz="5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Presentation, Data Structure &amp; Algorithm, DCS, FoIT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C29148-4CB2-4963-8B2B-F33F05C5C9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F5C57C-01BA-4E14-9ECC-C9A177BFCD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96B98B-8C1D-4B9E-806E-E0F7AFA622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06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29056"/>
            <a:ext cx="7886700" cy="1325563"/>
          </a:xfrm>
        </p:spPr>
        <p:txBody>
          <a:bodyPr>
            <a:normAutofit/>
          </a:bodyPr>
          <a:lstStyle/>
          <a:p>
            <a:r>
              <a:rPr lang="en-US" sz="6600" b="1" dirty="0" smtClean="0"/>
              <a:t>Thank You</a:t>
            </a:r>
            <a:endParaRPr lang="en-US" sz="6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Final Presentation, Data Structure &amp; Algorithm, DCS, FoIT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4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689</Words>
  <Application>Microsoft Office PowerPoint</Application>
  <PresentationFormat>On-screen Show (4:3)</PresentationFormat>
  <Paragraphs>158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等线</vt:lpstr>
      <vt:lpstr>Times New Roman</vt:lpstr>
      <vt:lpstr>Office Theme</vt:lpstr>
      <vt:lpstr>Line Following Car</vt:lpstr>
      <vt:lpstr>Overview</vt:lpstr>
      <vt:lpstr>Introduction/Background:</vt:lpstr>
      <vt:lpstr>Motivation:</vt:lpstr>
      <vt:lpstr>Problem Statement:</vt:lpstr>
      <vt:lpstr>Scope of Project:</vt:lpstr>
      <vt:lpstr>Project Objectives:</vt:lpstr>
      <vt:lpstr>Literature Review:</vt:lpstr>
      <vt:lpstr>Methodology/Framework:</vt:lpstr>
      <vt:lpstr>Methodology/Framework</vt:lpstr>
      <vt:lpstr>Circuit Diagram:</vt:lpstr>
      <vt:lpstr>Tools and Languages</vt:lpstr>
      <vt:lpstr>Gantt Chart</vt:lpstr>
      <vt:lpstr>Conclusion</vt:lpstr>
      <vt:lpstr>References</vt:lpstr>
      <vt:lpstr>Q/A Session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Sadia Mughal \ Lecturer Computer Science</dc:creator>
  <cp:lastModifiedBy>Leo</cp:lastModifiedBy>
  <cp:revision>50</cp:revision>
  <dcterms:created xsi:type="dcterms:W3CDTF">2021-11-26T06:10:53Z</dcterms:created>
  <dcterms:modified xsi:type="dcterms:W3CDTF">2025-06-04T21:17:04Z</dcterms:modified>
</cp:coreProperties>
</file>